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0F0F0"/>
                </a:solidFill>
              </a:defRPr>
            </a:pPr>
            <a:r>
              <a:t>SCALABLE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8FFF"/>
                </a:solidFill>
              </a:defRPr>
            </a:pPr>
            <a:r>
              <a:t>Institutional-Grade Quantitative Trading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C0"/>
                </a:solidFill>
              </a:defRPr>
            </a:pPr>
            <a:r>
              <a:t>8-Layer AI-Powered Forex Trading Platform with Real-Time Market Intelligence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5029200"/>
            <a:ext cx="109728" cy="109728"/>
          </a:xfrm>
          <a:prstGeom prst="ellipse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Real-Time Execution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5029200"/>
            <a:ext cx="109728" cy="109728"/>
          </a:xfrm>
          <a:prstGeom prst="ellipse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ML-Powered Filtering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5029200"/>
            <a:ext cx="109728" cy="109728"/>
          </a:xfrm>
          <a:prstGeom prst="ellipse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Multi-Layer Architecture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5029200"/>
            <a:ext cx="109728" cy="109728"/>
          </a:xfrm>
          <a:prstGeom prst="ellipse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OANDA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0B0C0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8FFF"/>
                </a:solidFill>
              </a:defRPr>
            </a:pPr>
            <a:r>
              <a:t>System Architecture: 8-Layer Runtime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0: Strategy 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298448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Backtest &amp; qualify strategy variants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47088"/>
            <a:ext cx="5029200" cy="548640"/>
          </a:xfrm>
          <a:prstGeom prst="roundRect">
            <a:avLst/>
          </a:prstGeom>
          <a:solidFill>
            <a:srgbClr val="5B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1: Regime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956816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Market state labels &amp; context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05456"/>
            <a:ext cx="5029200" cy="548640"/>
          </a:xfrm>
          <a:prstGeom prst="roundRect">
            <a:avLst/>
          </a:prstGeom>
          <a:solidFill>
            <a:srgbClr val="6CB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2: Signal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15184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Rule-based indicator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63824"/>
            <a:ext cx="5029200" cy="548640"/>
          </a:xfrm>
          <a:prstGeom prst="roundRect">
            <a:avLst/>
          </a:prstGeom>
          <a:solidFill>
            <a:srgbClr val="7D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36976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3: ML Gatekeeper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73552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Train champion model artifacts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22191"/>
            <a:ext cx="5029200" cy="548640"/>
          </a:xfrm>
          <a:prstGeom prst="roundRect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4: Live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319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Orchestration &amp; risk gating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59"/>
            <a:ext cx="5029200" cy="5486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5371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5: Telemetry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590288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FastAPI dashboard &amp; 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38928"/>
            <a:ext cx="5029200" cy="548640"/>
          </a:xfrm>
          <a:prstGeom prst="roundRect">
            <a:avLst/>
          </a:prstGeom>
          <a:solidFill>
            <a:srgbClr val="E8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6: Trade Auditor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248656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Outcome reconciliation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97296"/>
            <a:ext cx="50292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7044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Layer 7: Broker 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907024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OANDA order placement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1277295" cy="82296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0F0F0"/>
                </a:solidFill>
              </a:defRPr>
            </a:pPr>
            <a:r>
              <a:t>Core Principles: Explicit layer contracts • No downstream recomputation • Granularity preservation • Deterministic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8FFF"/>
                </a:solidFill>
              </a:defRPr>
            </a:pPr>
            <a:r>
              <a:t>Core Components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4114800" cy="822960"/>
          </a:xfrm>
          <a:prstGeom prst="roundRect">
            <a:avLst/>
          </a:prstGeom>
          <a:solidFill>
            <a:srgbClr val="5B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OANDA v20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Real-time price streaming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43200" y="1600200"/>
            <a:ext cx="457200" cy="274320"/>
          </a:xfrm>
          <a:prstGeom prst="downArrow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114800" cy="822960"/>
          </a:xfrm>
          <a:prstGeom prst="roundRect">
            <a:avLst/>
          </a:prstGeom>
          <a:solidFill>
            <a:srgbClr val="6CB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SQL Server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Fact_Market_Prices, Fact_Signals, Fact_Live_Trades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743200" y="2697480"/>
            <a:ext cx="457200" cy="274320"/>
          </a:xfrm>
          <a:prstGeom prst="downArrow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4114800" cy="822960"/>
          </a:xfrm>
          <a:prstGeom prst="roundRect">
            <a:avLst/>
          </a:prstGeom>
          <a:solidFill>
            <a:srgbClr val="7D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Signal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Rule-based indicator evaluation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743200" y="3794760"/>
            <a:ext cx="457200" cy="274320"/>
          </a:xfrm>
          <a:prstGeom prst="downArrow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4114800" cy="822960"/>
          </a:xfrm>
          <a:prstGeom prst="roundRect">
            <a:avLst/>
          </a:prstGeom>
          <a:solidFill>
            <a:srgbClr val="00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ML Gatekeeper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RandomForest model filtering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743200" y="4892040"/>
            <a:ext cx="457200" cy="274320"/>
          </a:xfrm>
          <a:prstGeom prst="downArrow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120640"/>
            <a:ext cx="4114800" cy="8229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7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Risk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321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ATR-based position sizing, correlation gates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743200" y="5989320"/>
            <a:ext cx="457200" cy="274320"/>
          </a:xfrm>
          <a:prstGeom prst="downArrow">
            <a:avLst/>
          </a:prstGeom>
          <a:solidFill>
            <a:srgbClr val="0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6217920"/>
            <a:ext cx="4114800" cy="8229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30935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Execution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6294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Live trade placement via Layer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914400"/>
            <a:ext cx="5790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85C"/>
                </a:solidFill>
              </a:defRPr>
            </a:pPr>
            <a:r>
              <a:t>Key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46304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Multi-timeframe analysis (H1, H4)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87452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Market regime detection (ATR/ADX)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28600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6 strategy variants (trend + range)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69748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ML-based trade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10896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Correlation-aware risk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52044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Real-time WebSocket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93192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• Automated trade auditing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572000"/>
            <a:ext cx="5790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85C"/>
                </a:solidFill>
              </a:defRPr>
            </a:pPr>
            <a:r>
              <a:t>Technology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029200"/>
            <a:ext cx="5790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Backend: Python 3.12, FastAPI, SQL Server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376672"/>
            <a:ext cx="5790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Frontend: React 18, TypeScript, HTML5 Canvas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724144"/>
            <a:ext cx="5790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ML: scikit-learn, pandas, numpy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6071616"/>
            <a:ext cx="5790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Broker: OANDA v20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6419088"/>
            <a:ext cx="5790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0C0"/>
                </a:solidFill>
              </a:defRPr>
            </a:pPr>
            <a:r>
              <a:t>Data: WebSocket streaming, Redis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8FFF"/>
                </a:solidFill>
              </a:defRPr>
            </a:pPr>
            <a:r>
              <a:t>Advanced Chart System: Custom HTML5 Canvas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85C"/>
                </a:solidFill>
              </a:defRPr>
            </a:pPr>
            <a:r>
              <a:t>Chart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0F0F0"/>
                </a:solidFill>
              </a:defRPr>
            </a:pPr>
            <a:r>
              <a:t>▸ Real-Time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WebSocket streaming from OANDA v20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0F0F0"/>
                </a:solidFill>
              </a:defRPr>
            </a:pPr>
            <a:r>
              <a:t>▸ Technical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SMA, EMA, RSI, MACD, Bollinger Bands, ADX, ATR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0F0F0"/>
                </a:solidFill>
              </a:defRPr>
            </a:pPr>
            <a:r>
              <a:t>▸ Trade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Entry markers, SL/TP lines, win/loss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0F0F0"/>
                </a:solidFill>
              </a:defRPr>
            </a:pPr>
            <a:r>
              <a:t>▸ Analysis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Trend lines, Fibonacci retracement, S/R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0F0F0"/>
                </a:solidFill>
              </a:defRPr>
            </a:pPr>
            <a:r>
              <a:t>▸ Multi-Timeframe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5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1m, 5m, 15m, 30m, 1h, 4h, 1d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0F0F0"/>
                </a:solidFill>
              </a:defRPr>
            </a:pPr>
            <a:r>
              <a:t>▸ Asset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EUR_USD, GBP_USD, USD_JPY, AUD_USD, USD_CAD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85C"/>
                </a:solidFill>
              </a:defRPr>
            </a:pPr>
            <a:r>
              <a:t>Performance Targets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19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0F0"/>
                </a:solidFill>
              </a:defRPr>
            </a:pPr>
            <a:r>
              <a:t>Initial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1907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C85C"/>
                </a:solidFill>
              </a:defRPr>
            </a:pPr>
            <a:r>
              <a:t>&lt; 2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8600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3591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0F0"/>
                </a:solidFill>
              </a:defRPr>
            </a:pPr>
            <a:r>
              <a:t>Real-time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35915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C85C"/>
                </a:solidFill>
              </a:defRPr>
            </a:pPr>
            <a:r>
              <a:t>&lt; 50ms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2608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9992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0F0"/>
                </a:solidFill>
              </a:defRPr>
            </a:pPr>
            <a:r>
              <a:t>Frame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992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C85C"/>
                </a:solidFill>
              </a:defRPr>
            </a:pPr>
            <a:r>
              <a:t>60 FPS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6393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0F0"/>
                </a:solidFill>
              </a:defRPr>
            </a:pPr>
            <a:r>
              <a:t>Candle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393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C85C"/>
                </a:solidFill>
              </a:defRPr>
            </a:pPr>
            <a:r>
              <a:t>10,000+ without lag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0624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2793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0F0"/>
                </a:solidFill>
              </a:defRPr>
            </a:pPr>
            <a:r>
              <a:t>Memory Footprint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27939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C85C"/>
                </a:solidFill>
              </a:defRPr>
            </a:pPr>
            <a:r>
              <a:t>&lt; 50MB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84632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9194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0F0"/>
                </a:solidFill>
              </a:defRPr>
            </a:pPr>
            <a:r>
              <a:t>Indicator Calculation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91947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C85C"/>
                </a:solidFill>
              </a:defRPr>
            </a:pPr>
            <a:r>
              <a:t>&lt; 500ms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303520"/>
            <a:ext cx="5303520" cy="11887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3949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FFF"/>
                </a:solidFill>
              </a:defRPr>
            </a:pPr>
            <a:r>
              <a:t>Architecture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7150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0C0"/>
                </a:solidFill>
              </a:defRPr>
            </a:pPr>
            <a:r>
              <a:t>• Server-side indicator calculations</a:t>
            </a:r>
            <a:br/>
            <a:r>
              <a:t>• Web Workers for background processing</a:t>
            </a:r>
            <a:br/>
            <a:r>
              <a:t>• Canvas-based rendering (no TradingView dependency)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8FFF"/>
                </a:solidFill>
              </a:defRPr>
            </a:pPr>
            <a:r>
              <a:t>Current State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85C"/>
                </a:solidFill>
              </a:defRPr>
            </a:pPr>
            <a:r>
              <a:t>✓ Current State (April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Layer 4 execution path running with schema-aligned SQL writes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Layer 4 logging with rotating log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Layer 1 regime pipeline clustering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42615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42615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Layer 5 read-oriented API (10+ endpoints)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0087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Custom HTML5 Canvas chart system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755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37559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NLP/FinBERT macro intelligence pipeline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85031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1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Real-time OANDA WebSocket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3250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32503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30+ technical indicators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79975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C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5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Trade marker visualization (entry/SL/TP)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FFF"/>
                </a:solidFill>
              </a:defRPr>
            </a:pPr>
            <a:r>
              <a:t>⟳ Upcoming Improvements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0020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6459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6459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Macro events integration into Layer 3/4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16459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Short-term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19456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24027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240279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Schema health checks before Layer 4 starts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24027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Short-term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78892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83463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834639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Documentation sync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83463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Medium-term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383279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4289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428999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Macro sentiment dashboard cards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4289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Medium-term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977639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0233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023359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Additional chart types (Heikin-Ashi, Renko)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40233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Long-term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57200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617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6177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ML pattern detection on 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617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Long-term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16636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5212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52120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Chart templates and saved layouts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5212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Long-term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760720"/>
            <a:ext cx="5303520" cy="502920"/>
          </a:xfrm>
          <a:prstGeom prst="roundRect">
            <a:avLst/>
          </a:prstGeom>
          <a:solidFill>
            <a:srgbClr val="2A2A4E"/>
          </a:solidFill>
          <a:ln>
            <a:solidFill>
              <a:srgbClr val="0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58064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FFF"/>
                </a:solidFill>
              </a:defRPr>
            </a:pPr>
            <a:r>
              <a:t>Phase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8064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Export to SVG/PDF formats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8064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0B0C0"/>
                </a:solidFill>
              </a:defRPr>
            </a:pPr>
            <a:r>
              <a:t>Long-term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669280"/>
            <a:ext cx="11277295" cy="914400"/>
          </a:xfrm>
          <a:prstGeom prst="roundRect">
            <a:avLst/>
          </a:prstGeom>
          <a:solidFill>
            <a:srgbClr val="2A2A4E"/>
          </a:solidFill>
          <a:ln>
            <a:solidFill>
              <a:srgbClr val="00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0F0F0"/>
                </a:solidFill>
              </a:defRPr>
            </a:pPr>
            <a:r>
              <a:t>Success Metrics: Performance &lt; 2s load | 60 FPS | 99.9% uptime | 80%+ test coverage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0B0C0"/>
                </a:solidFill>
              </a:defRPr>
            </a:pPr>
            <a:r>
              <a:t>Institutional-grade quality with professional trading platform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